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8"/>
    </p:embeddedFont>
    <p:embeddedFont>
      <p:font typeface="Trade Gothic Condensed Bold" charset="1" panose="020B0806040303020004"/>
      <p:regular r:id="rId19"/>
    </p:embeddedFont>
    <p:embeddedFont>
      <p:font typeface="Trade Gothic Condensed" charset="1" panose="020B05060403030200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37806" y="2736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40055" y="1968745"/>
            <a:ext cx="10460725" cy="791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</a:p>
          <a:p>
            <a:pPr algn="just" marL="579122" indent="-289561" lvl="1">
              <a:lnSpc>
                <a:spcPts val="76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SIH26183</a:t>
            </a:r>
          </a:p>
          <a:p>
            <a:pPr algn="l" marL="690882" indent="-345441" lvl="1">
              <a:lnSpc>
                <a:spcPts val="5888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 -  Real-Time Identification  of Fraud-Linked Cryptocurrency Exchanges from Victim-Reported Suspect Wallet Addresses through Automated Blockchain Analytics</a:t>
            </a:r>
          </a:p>
          <a:p>
            <a:pPr algn="just" marL="579122" indent="-289561" lvl="1">
              <a:lnSpc>
                <a:spcPts val="76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Blockchain &amp; Cybersecurity</a:t>
            </a:r>
          </a:p>
          <a:p>
            <a:pPr algn="just" marL="579122" indent="-289561" lvl="1">
              <a:lnSpc>
                <a:spcPts val="76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579122" indent="-289561" lvl="1">
              <a:lnSpc>
                <a:spcPts val="76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14577" y="359321"/>
            <a:ext cx="12055552" cy="2141844"/>
            <a:chOff x="0" y="0"/>
            <a:chExt cx="16074069" cy="2855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74068" cy="2855792"/>
            </a:xfrm>
            <a:custGeom>
              <a:avLst/>
              <a:gdLst/>
              <a:ahLst/>
              <a:cxnLst/>
              <a:rect r="r" b="b" t="t" l="l"/>
              <a:pathLst>
                <a:path h="2855792" w="16074068">
                  <a:moveTo>
                    <a:pt x="0" y="0"/>
                  </a:moveTo>
                  <a:lnTo>
                    <a:pt x="16074068" y="0"/>
                  </a:lnTo>
                  <a:lnTo>
                    <a:pt x="16074068" y="2855792"/>
                  </a:lnTo>
                  <a:lnTo>
                    <a:pt x="0" y="285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10" r="-36527" b="-897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6074069" cy="2874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</a:p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Real-Time Detection of Fraud-Linked Cryptocurrency Exchanges via Automated Blockchain Analytics of Victim-Reported Wallet Addresses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19008" y="3359440"/>
            <a:ext cx="15312585" cy="457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759" indent="-250380" lvl="1">
              <a:lnSpc>
                <a:spcPts val="3320"/>
              </a:lnSpc>
              <a:buFont typeface="Arial"/>
              <a:buChar char="•"/>
            </a:pPr>
            <a:r>
              <a:rPr lang="en-US" b="true" sz="2767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Solution:      </a:t>
            </a:r>
            <a:r>
              <a:rPr lang="en-US" b="true" sz="276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blockchain tracing platform that tracks </a:t>
            </a:r>
          </a:p>
          <a:p>
            <a:pPr algn="l">
              <a:lnSpc>
                <a:spcPts val="3320"/>
              </a:lnSpc>
            </a:pPr>
            <a:r>
              <a:rPr lang="en-US" sz="27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victim-reported suspect wall</a:t>
            </a:r>
            <a:r>
              <a:rPr lang="en-US" sz="27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ets and identifies linked exchanges/VASPs.</a:t>
            </a:r>
          </a:p>
          <a:p>
            <a:pPr algn="l">
              <a:lnSpc>
                <a:spcPts val="3320"/>
              </a:lnSpc>
            </a:pPr>
          </a:p>
          <a:p>
            <a:pPr algn="l">
              <a:lnSpc>
                <a:spcPts val="3320"/>
              </a:lnSpc>
            </a:pPr>
          </a:p>
          <a:p>
            <a:pPr algn="l" marL="500759" indent="-250380" lvl="1">
              <a:lnSpc>
                <a:spcPts val="3320"/>
              </a:lnSpc>
              <a:buFont typeface="Arial"/>
              <a:buChar char="•"/>
            </a:pPr>
            <a:r>
              <a:rPr lang="en-US" b="true" sz="2767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How it solves: </a:t>
            </a:r>
            <a:r>
              <a:rPr lang="en-US" sz="27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Automatically maps multi-hop fund flows, detects </a:t>
            </a:r>
          </a:p>
          <a:p>
            <a:pPr algn="l">
              <a:lnSpc>
                <a:spcPts val="3320"/>
              </a:lnSpc>
            </a:pPr>
            <a:r>
              <a:rPr lang="en-US" sz="27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</a:t>
            </a:r>
            <a:r>
              <a:rPr lang="en-US" sz="27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suspicious wallet patterns, assigns risk scores, and generates</a:t>
            </a:r>
          </a:p>
          <a:p>
            <a:pPr algn="l">
              <a:lnSpc>
                <a:spcPts val="3320"/>
              </a:lnSpc>
            </a:pPr>
            <a:r>
              <a:rPr lang="en-US" sz="27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investigator-ready reports.</a:t>
            </a:r>
          </a:p>
          <a:p>
            <a:pPr algn="l">
              <a:lnSpc>
                <a:spcPts val="3320"/>
              </a:lnSpc>
            </a:pPr>
          </a:p>
          <a:p>
            <a:pPr algn="l" marL="500759" indent="-250380" lvl="1">
              <a:lnSpc>
                <a:spcPts val="3320"/>
              </a:lnSpc>
              <a:buFont typeface="Arial"/>
              <a:buChar char="•"/>
            </a:pPr>
            <a:r>
              <a:rPr lang="en-US" b="true" sz="2767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Innovation:</a:t>
            </a:r>
            <a:r>
              <a:rPr lang="en-US" b="true" sz="276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real-time graph analytics + ML risk scoring </a:t>
            </a:r>
          </a:p>
          <a:p>
            <a:pPr algn="l">
              <a:lnSpc>
                <a:spcPts val="3320"/>
              </a:lnSpc>
            </a:pPr>
            <a:r>
              <a:rPr lang="en-US" sz="27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</a:t>
            </a:r>
            <a:r>
              <a:rPr lang="en-US" sz="27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explainable visual tracing, showing exactly how funds move from                               suspect  Wallet →. Intermediaries → Exchange/VASP.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635728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187119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91499" y="1589372"/>
            <a:ext cx="14454428" cy="734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2098" indent="-246049" lvl="1">
              <a:lnSpc>
                <a:spcPts val="3262"/>
              </a:lnSpc>
              <a:buFont typeface="Arial"/>
              <a:buChar char="•"/>
            </a:pPr>
            <a:r>
              <a:rPr lang="en-US" b="true" sz="271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1. Wallet Input</a:t>
            </a:r>
          </a:p>
          <a:p>
            <a:pPr algn="just">
              <a:lnSpc>
                <a:spcPts val="3262"/>
              </a:lnSpc>
            </a:pP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TRON wallet address + investigation range</a:t>
            </a:r>
          </a:p>
          <a:p>
            <a:pPr algn="just">
              <a:lnSpc>
                <a:spcPts val="3262"/>
              </a:lnSpc>
            </a:pP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</a:p>
          <a:p>
            <a:pPr algn="just" marL="492098" indent="-246049" lvl="1">
              <a:lnSpc>
                <a:spcPts val="3262"/>
              </a:lnSpc>
              <a:buFont typeface="Arial"/>
              <a:buChar char="•"/>
            </a:pPr>
            <a:r>
              <a:rPr lang="en-US" b="true" sz="271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2. Blockchain Data Collection</a:t>
            </a:r>
          </a:p>
          <a:p>
            <a:pPr algn="just">
              <a:lnSpc>
                <a:spcPts val="3262"/>
              </a:lnSpc>
            </a:pP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Transactions • USDT transfers • timestamps • counterparties</a:t>
            </a:r>
          </a:p>
          <a:p>
            <a:pPr algn="just">
              <a:lnSpc>
                <a:spcPts val="3262"/>
              </a:lnSpc>
            </a:pP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</a:p>
          <a:p>
            <a:pPr algn="just" marL="492098" indent="-246049" lvl="1">
              <a:lnSpc>
                <a:spcPts val="3262"/>
              </a:lnSpc>
              <a:buFont typeface="Arial"/>
              <a:buChar char="•"/>
            </a:pPr>
            <a:r>
              <a:rPr lang="en-US" b="true" sz="271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3. Transaction Graph</a:t>
            </a:r>
          </a:p>
          <a:p>
            <a:pPr algn="just">
              <a:lnSpc>
                <a:spcPts val="3262"/>
              </a:lnSpc>
            </a:pP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Wallets → transactions → multi-hop relationships</a:t>
            </a:r>
          </a:p>
          <a:p>
            <a:pPr algn="just">
              <a:lnSpc>
                <a:spcPts val="3262"/>
              </a:lnSpc>
            </a:pP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</a:p>
          <a:p>
            <a:pPr algn="just" marL="492098" indent="-246049" lvl="1">
              <a:lnSpc>
                <a:spcPts val="3262"/>
              </a:lnSpc>
              <a:buFont typeface="Arial"/>
              <a:buChar char="•"/>
            </a:pPr>
            <a:r>
              <a:rPr lang="en-US" b="true" sz="271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4. VASP Matching</a:t>
            </a:r>
          </a:p>
          <a:p>
            <a:pPr algn="just">
              <a:lnSpc>
                <a:spcPts val="3262"/>
              </a:lnSpc>
            </a:pP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Compare connected addresses with known VASP- associated address   database</a:t>
            </a:r>
          </a:p>
          <a:p>
            <a:pPr algn="just">
              <a:lnSpc>
                <a:spcPts val="3262"/>
              </a:lnSpc>
            </a:pP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</a:p>
          <a:p>
            <a:pPr algn="just" marL="492098" indent="-246049" lvl="1">
              <a:lnSpc>
                <a:spcPts val="3262"/>
              </a:lnSpc>
              <a:buFont typeface="Arial"/>
              <a:buChar char="•"/>
            </a:pPr>
            <a:r>
              <a:rPr lang="en-US" b="true" sz="271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5. Attribution Engine</a:t>
            </a:r>
          </a:p>
          <a:p>
            <a:pPr algn="just">
              <a:lnSpc>
                <a:spcPts val="3262"/>
              </a:lnSpc>
            </a:pP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Distance + frequency + volume + recency + cluster relationships</a:t>
            </a:r>
          </a:p>
          <a:p>
            <a:pPr algn="just">
              <a:lnSpc>
                <a:spcPts val="3262"/>
              </a:lnSpc>
            </a:pP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</a:p>
          <a:p>
            <a:pPr algn="just" marL="492098" indent="-246049" lvl="1">
              <a:lnSpc>
                <a:spcPts val="3262"/>
              </a:lnSpc>
              <a:buFont typeface="Arial"/>
              <a:buChar char="•"/>
            </a:pPr>
            <a:r>
              <a:rPr lang="en-US" b="true" sz="271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6. Explainable Output</a:t>
            </a:r>
          </a:p>
          <a:p>
            <a:pPr algn="just">
              <a:lnSpc>
                <a:spcPts val="3262"/>
              </a:lnSpc>
            </a:pPr>
            <a:r>
              <a:rPr lang="en-US" sz="27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Top VASP → Confidence Score → Supporting Transactions</a:t>
            </a:r>
          </a:p>
          <a:p>
            <a:pPr algn="just">
              <a:lnSpc>
                <a:spcPts val="326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1714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63316" y="1866900"/>
            <a:ext cx="14423969" cy="753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57" indent="-248278" lvl="1">
              <a:lnSpc>
                <a:spcPts val="3292"/>
              </a:lnSpc>
              <a:buFont typeface="Arial"/>
              <a:buChar char="•"/>
            </a:pPr>
            <a:r>
              <a:rPr lang="en-US" b="true" sz="2743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Tech</a:t>
            </a:r>
            <a:r>
              <a:rPr lang="en-US" b="true" sz="2743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nical</a:t>
            </a:r>
            <a:r>
              <a:rPr lang="en-US" sz="27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Built on mature, open-source tools (GNN libraries, blockchain APIs) — no groundbreaking infrastructure needed.</a:t>
            </a:r>
          </a:p>
          <a:p>
            <a:pPr algn="just">
              <a:lnSpc>
                <a:spcPts val="3292"/>
              </a:lnSpc>
            </a:pPr>
          </a:p>
          <a:p>
            <a:pPr algn="just" marL="496557" indent="-248278" lvl="1">
              <a:lnSpc>
                <a:spcPts val="3292"/>
              </a:lnSpc>
              <a:buFont typeface="Arial"/>
              <a:buChar char="•"/>
            </a:pPr>
            <a:r>
              <a:rPr lang="en-US" b="true" sz="2743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Data </a:t>
            </a:r>
            <a:r>
              <a:rPr lang="en-US" sz="27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Public, immutable blockchain ledgers + existing labeled datasets (e.g., Elliptic) make training and validation practical.</a:t>
            </a:r>
          </a:p>
          <a:p>
            <a:pPr algn="just">
              <a:lnSpc>
                <a:spcPts val="3292"/>
              </a:lnSpc>
            </a:pPr>
          </a:p>
          <a:p>
            <a:pPr algn="just" marL="496557" indent="-248278" lvl="1">
              <a:lnSpc>
                <a:spcPts val="3292"/>
              </a:lnSpc>
              <a:buFont typeface="Arial"/>
              <a:buChar char="•"/>
            </a:pPr>
            <a:r>
              <a:rPr lang="en-US" b="true" sz="2743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Resource</a:t>
            </a:r>
            <a:r>
              <a:rPr lang="en-US" sz="27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MVP achievable with a small team, free-tier compute, and open datasets within a semester timeline.</a:t>
            </a:r>
          </a:p>
          <a:p>
            <a:pPr algn="just">
              <a:lnSpc>
                <a:spcPts val="3292"/>
              </a:lnSpc>
            </a:pPr>
          </a:p>
          <a:p>
            <a:pPr algn="just" marL="496557" indent="-248278" lvl="1">
              <a:lnSpc>
                <a:spcPts val="3292"/>
              </a:lnSpc>
              <a:buFont typeface="Arial"/>
              <a:buChar char="•"/>
            </a:pPr>
            <a:r>
              <a:rPr lang="en-US" b="true" sz="2743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Economic</a:t>
            </a:r>
            <a:r>
              <a:rPr lang="en-US" sz="27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Low cost to build; clear value for exchanges (compliance) and law enforcement (reduced investigation time).</a:t>
            </a:r>
          </a:p>
          <a:p>
            <a:pPr algn="just">
              <a:lnSpc>
                <a:spcPts val="3292"/>
              </a:lnSpc>
            </a:pPr>
          </a:p>
          <a:p>
            <a:pPr algn="just" marL="496557" indent="-248278" lvl="1">
              <a:lnSpc>
                <a:spcPts val="3292"/>
              </a:lnSpc>
              <a:buFont typeface="Arial"/>
              <a:buChar char="•"/>
            </a:pPr>
            <a:r>
              <a:rPr lang="en-US" b="true" sz="2743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Operational</a:t>
            </a:r>
            <a:r>
              <a:rPr lang="en-US" sz="27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Can launch with 1–2 chains and scale incrementally; doesn't require exchange cooperation to function.</a:t>
            </a:r>
          </a:p>
          <a:p>
            <a:pPr algn="just">
              <a:lnSpc>
                <a:spcPts val="3292"/>
              </a:lnSpc>
            </a:pPr>
          </a:p>
          <a:p>
            <a:pPr algn="just" marL="496557" indent="-248278" lvl="1">
              <a:lnSpc>
                <a:spcPts val="3292"/>
              </a:lnSpc>
              <a:buFont typeface="Arial"/>
              <a:buChar char="•"/>
            </a:pPr>
            <a:r>
              <a:rPr lang="en-US" b="true" sz="2743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Key risk</a:t>
            </a:r>
            <a:r>
              <a:rPr lang="en-US" sz="27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Obfuscation techniques (mixers, cross-chain swaps) limit traceability accuracy at scale.</a:t>
            </a:r>
          </a:p>
          <a:p>
            <a:pPr algn="just">
              <a:lnSpc>
                <a:spcPts val="329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91499" y="1624012"/>
            <a:ext cx="15113285" cy="733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9"/>
              </a:lnSpc>
            </a:pPr>
          </a:p>
          <a:p>
            <a:pPr algn="just" marL="488566" indent="-244283" lvl="1">
              <a:lnSpc>
                <a:spcPts val="3239"/>
              </a:lnSpc>
              <a:buFont typeface="Arial"/>
              <a:buChar char="•"/>
            </a:pPr>
            <a:r>
              <a:rPr lang="en-US" b="true" sz="269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Faster fraud response</a:t>
            </a: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Quickly identifies which exchange received stolen funds, cutting the delay between fraud reporting and action.</a:t>
            </a:r>
          </a:p>
          <a:p>
            <a:pPr algn="just">
              <a:lnSpc>
                <a:spcPts val="3239"/>
              </a:lnSpc>
            </a:pPr>
          </a:p>
          <a:p>
            <a:pPr algn="just" marL="488566" indent="-244283" lvl="1">
              <a:lnSpc>
                <a:spcPts val="3239"/>
              </a:lnSpc>
              <a:buFont typeface="Arial"/>
              <a:buChar char="•"/>
            </a:pPr>
            <a:r>
              <a:rPr lang="en-US" b="true" sz="269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Improved fund recovery</a:t>
            </a: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Enables faster freezing of accounts before funds are withdrawn or laundered.</a:t>
            </a:r>
          </a:p>
          <a:p>
            <a:pPr algn="just">
              <a:lnSpc>
                <a:spcPts val="3239"/>
              </a:lnSpc>
            </a:pPr>
          </a:p>
          <a:p>
            <a:pPr algn="just" marL="488566" indent="-244283" lvl="1">
              <a:lnSpc>
                <a:spcPts val="3239"/>
              </a:lnSpc>
              <a:buFont typeface="Arial"/>
              <a:buChar char="•"/>
            </a:pPr>
            <a:r>
              <a:rPr lang="en-US" b="true" sz="269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Reduced manual effort</a:t>
            </a: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Automates blockchain tracing that investigators currently do by hand.</a:t>
            </a:r>
          </a:p>
          <a:p>
            <a:pPr algn="just">
              <a:lnSpc>
                <a:spcPts val="3239"/>
              </a:lnSpc>
            </a:pPr>
          </a:p>
          <a:p>
            <a:pPr algn="just" marL="488566" indent="-244283" lvl="1">
              <a:lnSpc>
                <a:spcPts val="3239"/>
              </a:lnSpc>
              <a:buFont typeface="Arial"/>
              <a:buChar char="•"/>
            </a:pPr>
            <a:r>
              <a:rPr lang="en-US" b="true" sz="269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Better fraud pattern detection</a:t>
            </a:r>
            <a:r>
              <a:rPr lang="en-US" sz="2699">
                <a:solidFill>
                  <a:srgbClr val="4A7E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Links multiple victim reports to expose common wallets or exchange clusters used by scammers.</a:t>
            </a:r>
          </a:p>
          <a:p>
            <a:pPr algn="just">
              <a:lnSpc>
                <a:spcPts val="3239"/>
              </a:lnSpc>
            </a:pPr>
          </a:p>
          <a:p>
            <a:pPr algn="just" marL="488566" indent="-244283" lvl="1">
              <a:lnSpc>
                <a:spcPts val="3239"/>
              </a:lnSpc>
              <a:buFont typeface="Arial"/>
              <a:buChar char="•"/>
            </a:pPr>
            <a:r>
              <a:rPr lang="en-US" b="true" sz="269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Stronger exchange compliance</a:t>
            </a: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Helps exchanges meet AML/KYC obligations by flagging suspicious deposits early.</a:t>
            </a:r>
          </a:p>
          <a:p>
            <a:pPr algn="just">
              <a:lnSpc>
                <a:spcPts val="3239"/>
              </a:lnSpc>
            </a:pPr>
          </a:p>
          <a:p>
            <a:pPr algn="just" marL="488566" indent="-244283" lvl="1">
              <a:lnSpc>
                <a:spcPts val="3239"/>
              </a:lnSpc>
              <a:buFont typeface="Arial"/>
              <a:buChar char="•"/>
            </a:pPr>
            <a:r>
              <a:rPr lang="en-US" b="true" sz="269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Scalable framework</a:t>
            </a:r>
            <a:r>
              <a:rPr lang="en-US" sz="2699">
                <a:solidFill>
                  <a:srgbClr val="4A7E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Can extend to other blockchains and fraud types beyond wallet-based scams.</a:t>
            </a:r>
          </a:p>
          <a:p>
            <a:pPr algn="just">
              <a:lnSpc>
                <a:spcPts val="323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126621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14350" y="2123548"/>
            <a:ext cx="17259300" cy="640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6649" indent="-303325" lvl="1">
              <a:lnSpc>
                <a:spcPts val="3371"/>
              </a:lnSpc>
              <a:buFont typeface="Arial"/>
              <a:buChar char="•"/>
            </a:pPr>
            <a:r>
              <a:rPr lang="en-US" b="true" sz="280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GNNs for Real-Time Financial Fraud Id</a:t>
            </a:r>
            <a:r>
              <a:rPr lang="en-US" b="true" sz="280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entification</a:t>
            </a:r>
            <a:r>
              <a:rPr lang="en-US" sz="28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Models transactions as     dynamic graphs, fusing GNNs with online anomaly detectors for relational fraud patterns. (ResearchGate, 2025)</a:t>
            </a:r>
          </a:p>
          <a:p>
            <a:pPr algn="just">
              <a:lnSpc>
                <a:spcPts val="3371"/>
              </a:lnSpc>
            </a:pPr>
          </a:p>
          <a:p>
            <a:pPr algn="just" marL="606649" indent="-303325" lvl="1">
              <a:lnSpc>
                <a:spcPts val="3371"/>
              </a:lnSpc>
              <a:buFont typeface="Arial"/>
              <a:buChar char="•"/>
            </a:pPr>
            <a:r>
              <a:rPr lang="en-US" b="true" sz="280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Multi-Distance Spatial-Temporal GNN (MDST-GNN) </a:t>
            </a:r>
            <a:r>
              <a:rPr lang="en-US" sz="28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High-precision suspicious transaction ranking on Bitcoin; optimal at 3-hop graph depth. (Wiley, 2025)</a:t>
            </a:r>
          </a:p>
          <a:p>
            <a:pPr algn="just">
              <a:lnSpc>
                <a:spcPts val="3371"/>
              </a:lnSpc>
            </a:pPr>
          </a:p>
          <a:p>
            <a:pPr algn="just" marL="606649" indent="-303325" lvl="1">
              <a:lnSpc>
                <a:spcPts val="3371"/>
              </a:lnSpc>
              <a:buFont typeface="Arial"/>
              <a:buChar char="•"/>
            </a:pPr>
            <a:r>
              <a:rPr lang="en-US" b="true" sz="280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Ensemble GNNs for Blockchain Fraud Detection</a:t>
            </a:r>
            <a:r>
              <a:rPr lang="en-US" sz="28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70%+ illicit transaction detection, &lt;1% false positives, on the Elliptic dataset. (arXiv, 2025)</a:t>
            </a:r>
          </a:p>
          <a:p>
            <a:pPr algn="just">
              <a:lnSpc>
                <a:spcPts val="3371"/>
              </a:lnSpc>
            </a:pPr>
          </a:p>
          <a:p>
            <a:pPr algn="just" marL="606649" indent="-303325" lvl="1">
              <a:lnSpc>
                <a:spcPts val="3371"/>
              </a:lnSpc>
              <a:buFont typeface="Arial"/>
              <a:buChar char="•"/>
            </a:pPr>
            <a:r>
              <a:rPr lang="en-US" b="true" sz="280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GNNs with Lambda Architecture for Real-Time Fraud Detection</a:t>
            </a:r>
            <a:r>
              <a:rPr lang="en-US" sz="28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Combines batch + streaming layers for low-latency graph-based fraud inference. (Lu et al., arXiv)</a:t>
            </a:r>
          </a:p>
          <a:p>
            <a:pPr algn="just">
              <a:lnSpc>
                <a:spcPts val="3371"/>
              </a:lnSpc>
            </a:pPr>
          </a:p>
          <a:p>
            <a:pPr algn="just" marL="606649" indent="-303325" lvl="1">
              <a:lnSpc>
                <a:spcPts val="3371"/>
              </a:lnSpc>
              <a:buFont typeface="Arial"/>
              <a:buChar char="•"/>
            </a:pPr>
            <a:r>
              <a:rPr lang="en-US" b="true" sz="2809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GNN + Real-Time Streaming + Vector DB Fraud Detection</a:t>
            </a:r>
            <a:r>
              <a:rPr lang="en-US" sz="28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Sub-100ms latency detection of laundering rings and fraud networks. (Applied case study, 2025)</a:t>
            </a:r>
          </a:p>
          <a:p>
            <a:pPr algn="just">
              <a:lnSpc>
                <a:spcPts val="337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DAHTThji0qk</dc:identifier>
  <dcterms:modified xsi:type="dcterms:W3CDTF">2011-08-01T06:04:30Z</dcterms:modified>
  <cp:revision>1</cp:revision>
  <dc:title>SIH2026</dc:title>
</cp:coreProperties>
</file>