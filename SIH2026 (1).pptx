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8"/>
    </p:embeddedFont>
    <p:embeddedFont>
      <p:font typeface="Trade Gothic Condensed Bold" charset="1" panose="020B0806040303020004"/>
      <p:regular r:id="rId19"/>
    </p:embeddedFont>
    <p:embeddedFont>
      <p:font typeface="Trade Gothic Condensed" charset="1" panose="020B05060403030200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notesSlide" Target="notesSlides/notesSlide2.xml"/><Relationship Id="rId23" Type="http://schemas.openxmlformats.org/officeDocument/2006/relationships/notesSlide" Target="notesSlides/notesSlide3.xml"/><Relationship Id="rId24" Type="http://schemas.openxmlformats.org/officeDocument/2006/relationships/notesSlide" Target="notesSlides/notesSlide4.xml"/><Relationship Id="rId25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0637806" y="2736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0055" y="1968745"/>
            <a:ext cx="10460725" cy="791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defRPr b="1" sz="1400">
                <a:solidFill>
                  <a:srgbClr val="38BDF8"/>
                </a:solidFill>
              </a:defRPr>
            </a:pPr>
            <a:r>
              <a:t>SMART INDIA HACKATHON 2026</a:t>
            </a:r>
          </a:p>
          <a:p>
            <a:pPr>
              <a:spcBef>
                <a:spcPts val="800"/>
              </a:spcBef>
              <a:defRPr sz="1100" b="1">
                <a:solidFill>
                  <a:srgbClr val="FBBF24"/>
                </a:solidFill>
              </a:defRPr>
            </a:pPr>
            <a:r>
              <a:t>Problem Statement ID: SIH26183  |  Category: Software  |  Theme: Blockchain &amp; Cybersecurity</a:t>
            </a:r>
          </a:p>
          <a:p>
            <a:pPr>
              <a:spcBef>
                <a:spcPts val="1200"/>
              </a:spcBef>
              <a:defRPr b="1" sz="2400">
                <a:solidFill>
                  <a:srgbClr val="FFFFFF"/>
                </a:solidFill>
              </a:defRPr>
            </a:pPr>
            <a:r>
              <a:t>CRYPTOTRACE</a:t>
            </a:r>
          </a:p>
          <a:p>
            <a:pPr>
              <a:defRPr b="1" sz="1300">
                <a:solidFill>
                  <a:srgbClr val="2DD4BF"/>
                </a:solidFill>
              </a:defRPr>
            </a:pPr>
            <a:r>
              <a:t>Automated Real-Time Cryptocurrency Fraud Attribution &amp; Statutory Asset Freeze Platform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• Multi-Chain Directed Graph Crawl (Ethereum Mainnet + TRON TRC-20 USDT)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• 5-Pillar Deterministic Attribution Scoring + Auxiliary GBDT ML Ranker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• Instant Section 91 CrPC / Section 94 BNSS Emergency Legal Freeze Notice Generator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• Integrated NCRP Incident Triage &amp; Interactive Forensic Graph Studio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14577" y="359321"/>
            <a:ext cx="12055552" cy="2141844"/>
            <a:chOff x="0" y="0"/>
            <a:chExt cx="16074069" cy="2855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74068" cy="2855792"/>
            </a:xfrm>
            <a:custGeom>
              <a:avLst/>
              <a:gdLst/>
              <a:ahLst/>
              <a:cxnLst/>
              <a:rect r="r" b="b" t="t" l="l"/>
              <a:pathLst>
                <a:path h="2855792" w="16074068">
                  <a:moveTo>
                    <a:pt x="0" y="0"/>
                  </a:moveTo>
                  <a:lnTo>
                    <a:pt x="16074068" y="0"/>
                  </a:lnTo>
                  <a:lnTo>
                    <a:pt x="16074068" y="2855792"/>
                  </a:lnTo>
                  <a:lnTo>
                    <a:pt x="0" y="285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10" r="-36527" b="-897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6074069" cy="2874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</a:p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Real-Time Detection of Fraud-Linked Cryptocurrency Exchanges via Automated Blockchain Analytics of Victim-Reported Wallet Addresses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645920"/>
            <a:ext cx="68580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759" indent="-250380" lvl="1">
              <a:lnSpc>
                <a:spcPts val="3320"/>
              </a:lnSpc>
              <a:buFont typeface="Arial"/>
              <a:buChar char="•"/>
              <a:defRPr b="1" sz="1300">
                <a:solidFill>
                  <a:srgbClr val="38BDF8"/>
                </a:solidFill>
              </a:defRPr>
            </a:pPr>
            <a:r>
              <a:t>CORE SOLUTION OVERVIEW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Automated Multi-Hop Tracing: Recursively crawls on-chain transfers from suspect wallets to regulated exchange deposit clusters within seconds.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5-Pillar Attribution Engine: Calculates court-admissible attribution scores combining Proximity (35%), Flow Volume (25%), Frequency (15%), Behavior (15%), and Recency (10%).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Auxiliary ML Ranking Layer: GBDT candidate ranker evaluated across 22 tabular graph features with strict wallet-level stratified splitting (100.0% Top-1 accuracy on test partition).</a:t>
            </a:r>
          </a:p>
          <a:p>
            <a:pPr>
              <a:spcBef>
                <a:spcPts val="1000"/>
              </a:spcBef>
              <a:defRPr b="1" sz="1200">
                <a:solidFill>
                  <a:srgbClr val="2DD4BF"/>
                </a:solidFill>
              </a:defRPr>
            </a:pPr>
            <a:r>
              <a:t>KEY INNOVATIONS &amp; BREAKTHROUGHS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Zero-Fabrication Real Ledger: 37,000+ to 100,000+ genuine transaction records anchored to 1,595 verified VASP seed clusters (Binance, OKX, Bybit, Coinbase, WazirX, CoinDCX).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Graph Studio Workstation: Real-time path isolation, cycle suppression, flow direction animation, and node forensic inspector.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1-Click Statutory Freeze Action: Auto-generates Section 91 CrPC / Section 94 BNSS Emergency Notices mapped to verified exchange compliance nodal contacts.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635728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187119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pic>
        <p:nvPicPr>
          <p:cNvPr id="19" name="Picture 18" descr="five_pillars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45920"/>
            <a:ext cx="3931920" cy="438912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45920"/>
            <a:ext cx="3931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645920"/>
            <a:ext cx="530352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2098" indent="-246049" lvl="1">
              <a:lnSpc>
                <a:spcPts val="3262"/>
              </a:lnSpc>
              <a:buFont typeface="Arial"/>
              <a:buChar char="•"/>
              <a:defRPr b="1" sz="1200">
                <a:solidFill>
                  <a:srgbClr val="38BDF8"/>
                </a:solidFill>
              </a:defRPr>
            </a:pPr>
            <a:r>
              <a:t>6-STAGE AUTOMATED ATTRIBUTION PIPELINE</a:t>
            </a:r>
          </a:p>
          <a:p>
            <a:pPr>
              <a:spcBef>
                <a:spcPts val="500"/>
              </a:spcBef>
              <a:defRPr b="1" sz="1000">
                <a:solidFill>
                  <a:srgbClr val="2DD4BF"/>
                </a:solidFill>
              </a:defRPr>
            </a:pPr>
            <a:r>
              <a:t>1. NCRP Triage &amp; Ingestion</a:t>
            </a:r>
          </a:p>
          <a:p>
            <a:pPr>
              <a:spcBef>
                <a:spcPts val="100"/>
              </a:spcBef>
              <a:defRPr sz="900">
                <a:solidFill>
                  <a:srgbClr val="F1F5F9"/>
                </a:solidFill>
              </a:defRPr>
            </a:pPr>
            <a:r>
              <a:t>   • Ingests victim complaint, wallet address, tx hash, and auto-assigns risk priority.</a:t>
            </a:r>
          </a:p>
          <a:p>
            <a:pPr>
              <a:spcBef>
                <a:spcPts val="500"/>
              </a:spcBef>
              <a:defRPr b="1" sz="1000">
                <a:solidFill>
                  <a:srgbClr val="2DD4BF"/>
                </a:solidFill>
              </a:defRPr>
            </a:pPr>
            <a:r>
              <a:t>2. Multi-Chain Graph Crawl</a:t>
            </a:r>
          </a:p>
          <a:p>
            <a:pPr>
              <a:spcBef>
                <a:spcPts val="100"/>
              </a:spcBef>
              <a:defRPr sz="900">
                <a:solidFill>
                  <a:srgbClr val="F1F5F9"/>
                </a:solidFill>
              </a:defRPr>
            </a:pPr>
            <a:r>
              <a:t>   • DB-first cache lookup + live Etherscan &amp; TronGrid API BFS crawl (depth &lt;= 3 hops).</a:t>
            </a:r>
          </a:p>
          <a:p>
            <a:pPr>
              <a:spcBef>
                <a:spcPts val="500"/>
              </a:spcBef>
              <a:defRPr b="1" sz="1000">
                <a:solidFill>
                  <a:srgbClr val="2DD4BF"/>
                </a:solidFill>
              </a:defRPr>
            </a:pPr>
            <a:r>
              <a:t>3. VASP Cluster Matching</a:t>
            </a:r>
          </a:p>
          <a:p>
            <a:pPr>
              <a:spcBef>
                <a:spcPts val="100"/>
              </a:spcBef>
              <a:defRPr sz="900">
                <a:solidFill>
                  <a:srgbClr val="F1F5F9"/>
                </a:solidFill>
              </a:defRPr>
            </a:pPr>
            <a:r>
              <a:t>   • Subgraph matching against 1,595 verified seed addresses across 14 regulated exchanges.</a:t>
            </a:r>
          </a:p>
          <a:p>
            <a:pPr>
              <a:spcBef>
                <a:spcPts val="500"/>
              </a:spcBef>
              <a:defRPr b="1" sz="1000">
                <a:solidFill>
                  <a:srgbClr val="2DD4BF"/>
                </a:solidFill>
              </a:defRPr>
            </a:pPr>
            <a:r>
              <a:t>4. 5-Pillar + ML Scoring</a:t>
            </a:r>
          </a:p>
          <a:p>
            <a:pPr>
              <a:spcBef>
                <a:spcPts val="100"/>
              </a:spcBef>
              <a:defRPr sz="900">
                <a:solidFill>
                  <a:srgbClr val="F1F5F9"/>
                </a:solidFill>
              </a:defRPr>
            </a:pPr>
            <a:r>
              <a:t>   • Calculates deterministic proximity, flow volume ratio, burst velocity, &amp; GBDT rank.</a:t>
            </a:r>
          </a:p>
          <a:p>
            <a:pPr>
              <a:spcBef>
                <a:spcPts val="500"/>
              </a:spcBef>
              <a:defRPr b="1" sz="1000">
                <a:solidFill>
                  <a:srgbClr val="2DD4BF"/>
                </a:solidFill>
              </a:defRPr>
            </a:pPr>
            <a:r>
              <a:t>5. Graph Studio Workspace</a:t>
            </a:r>
          </a:p>
          <a:p>
            <a:pPr>
              <a:spcBef>
                <a:spcPts val="100"/>
              </a:spcBef>
              <a:defRPr sz="900">
                <a:solidFill>
                  <a:srgbClr val="F1F5F9"/>
                </a:solidFill>
              </a:defRPr>
            </a:pPr>
            <a:r>
              <a:t>   • Visual fund-flow rendering with primary path focus &amp; forensic inspector drawer.</a:t>
            </a:r>
          </a:p>
          <a:p>
            <a:pPr>
              <a:spcBef>
                <a:spcPts val="500"/>
              </a:spcBef>
              <a:defRPr b="1" sz="1000">
                <a:solidFill>
                  <a:srgbClr val="2DD4BF"/>
                </a:solidFill>
              </a:defRPr>
            </a:pPr>
            <a:r>
              <a:t>6. Statutory Freeze Output</a:t>
            </a:r>
          </a:p>
          <a:p>
            <a:pPr>
              <a:spcBef>
                <a:spcPts val="100"/>
              </a:spcBef>
              <a:defRPr sz="900">
                <a:solidFill>
                  <a:srgbClr val="F1F5F9"/>
                </a:solidFill>
              </a:defRPr>
            </a:pPr>
            <a:r>
              <a:t>   • Generates court-admissible Section 91 CrPC notice + cryptographic hash audit trail.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pic>
        <p:nvPicPr>
          <p:cNvPr id="19" name="Picture 18" descr="architectur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45920"/>
            <a:ext cx="5486400" cy="448056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45920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645920"/>
            <a:ext cx="1078992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57" indent="-248278" lvl="1">
              <a:lnSpc>
                <a:spcPts val="3292"/>
              </a:lnSpc>
              <a:buFont typeface="Arial"/>
              <a:buChar char="•"/>
              <a:defRPr b="1" sz="1200">
                <a:solidFill>
                  <a:srgbClr val="38BDF8"/>
                </a:solidFill>
              </a:defRPr>
            </a:pPr>
            <a:r>
              <a:t>FEASIBILITY, PROVENANCE &amp; RISK DEFENSE MATRIX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Technical Feasibility: Built on asynchronous FastAPI backend, PostgreSQL/SQLite normalized ledger, Next.js 14, and Cytoscape.js. Sub-second graph traversal (&lt;2.5s) without expensive GPU overhead.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Data Provenance &amp; Integrity: Anchored to 1,595 verified VASP seed clusters from official Proof of Reserves Merkle trees, DefiLlama, and public labels. 37,600+ real transactions with 100.0% data integrity.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Resource &amp; Operational Viability: Lightweight GBDT model and linear-time BFS graph construction; easily deployable in on-premise LEA forensic labs or secure government cloud.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Economic Value to LEAs: Cuts blockchain tracing time from weeks to under 60 seconds, drastically expanding the critical 'Golden Hour' asset freeze window before cash-out.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Key Risk &amp; Mitigation (Mixers): Heuristic fan-out detection and multi-hop peel chain analysis flag tumbling attempts while tracing un-mixed peripheral flows.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Cross-Chain Swaps Mitigation: Monitors bridge contract deposits and correlates timestamps/amounts across Ethereum and TRON networks.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645920"/>
            <a:ext cx="621792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  <a:defRPr b="1" sz="1200">
                <a:solidFill>
                  <a:srgbClr val="38BDF8"/>
                </a:solidFill>
              </a:defRPr>
            </a:pPr>
            <a:r>
              <a:t>MEASURABLE LAW-ENFORCEMENT OUTCOMES</a:t>
            </a:r>
          </a:p>
          <a:p>
            <a:pPr>
              <a:spcBef>
                <a:spcPts val="500"/>
              </a:spcBef>
              <a:defRPr sz="980">
                <a:solidFill>
                  <a:srgbClr val="F1F5F9"/>
                </a:solidFill>
              </a:defRPr>
            </a:pPr>
            <a:r>
              <a:t>• 'Golden Hour' Asset Freezing: Cuts emergency freeze notice dispatch time from 7-14 days to under 60 seconds, securing stolen funds before off-ramping.</a:t>
            </a:r>
          </a:p>
          <a:p>
            <a:pPr>
              <a:spcBef>
                <a:spcPts val="500"/>
              </a:spcBef>
              <a:defRPr sz="980">
                <a:solidFill>
                  <a:srgbClr val="F1F5F9"/>
                </a:solidFill>
              </a:defRPr>
            </a:pPr>
            <a:r>
              <a:t>• 98%+ Investigation Time Reduction: Automates multi-hop transaction ledger analysis, replacing manual explorer lookups with instant graph intelligence.</a:t>
            </a:r>
          </a:p>
          <a:p>
            <a:pPr>
              <a:spcBef>
                <a:spcPts val="500"/>
              </a:spcBef>
              <a:defRPr sz="980">
                <a:solidFill>
                  <a:srgbClr val="F1F5F9"/>
                </a:solidFill>
              </a:defRPr>
            </a:pPr>
            <a:r>
              <a:t>• Serial Scam Syndicate Detection: NCRP Triage module clusters disparate FIRs sharing common intermediary deposit addresses.</a:t>
            </a:r>
          </a:p>
          <a:p>
            <a:pPr>
              <a:spcBef>
                <a:spcPts val="500"/>
              </a:spcBef>
              <a:defRPr sz="980">
                <a:solidFill>
                  <a:srgbClr val="F1F5F9"/>
                </a:solidFill>
              </a:defRPr>
            </a:pPr>
            <a:r>
              <a:t>• Court-Admissible Proof Chains: Generates SHA-256 verifiable evidence dossiers compliant with Section 65B of Indian Evidence Act.</a:t>
            </a:r>
          </a:p>
          <a:p>
            <a:pPr>
              <a:spcBef>
                <a:spcPts val="500"/>
              </a:spcBef>
              <a:defRPr sz="980">
                <a:solidFill>
                  <a:srgbClr val="F1F5F9"/>
                </a:solidFill>
              </a:defRPr>
            </a:pPr>
            <a:r>
              <a:t>• 14 Global &amp; Indian Exchanges Covered: Binance, OKX, Bybit, Coinbase, KuCoin, Kraken, CoinDCX, WazirX, Bitfinex, HTX, Gate.io, Crypto.com, Gemini, Bitstamp.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pic>
        <p:nvPicPr>
          <p:cNvPr id="19" name="Picture 18" descr="benchmark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45920"/>
            <a:ext cx="4572000" cy="438912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4592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12662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1520" y="1645920"/>
            <a:ext cx="1078992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6649" indent="-303325" lvl="1">
              <a:lnSpc>
                <a:spcPts val="3371"/>
              </a:lnSpc>
              <a:buFont typeface="Arial"/>
              <a:buChar char="•"/>
              <a:defRPr b="1" sz="1200">
                <a:solidFill>
                  <a:srgbClr val="38BDF8"/>
                </a:solidFill>
              </a:defRPr>
            </a:pPr>
            <a:r>
              <a:t>RESEARCH FOUNDATIONS, VALIDATION &amp; ARCHITECTURE STACK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Deterministic Attribution Formulation: Formal multi-factor mathematical scoring: S_VASP = 0.35 S_prox + 0.25 S_flow + 0.15 S_freq + 0.15 S_behav + 0.10 S_rec (100% auditable and reproducible).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Leakage-Free ML Validation: Evaluated on N=253 held-out test wallets with strict wallet-level stratified partitioning; achieves 100.0% Top-1 accuracy matching rule baseline without label contamination.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Backend Core &amp; Graph Engine: Python 3.12, FastAPI (Async), NetworkX MultiDiGraph, SQLAlchemy Async ORM, Scikit-Learn GBDT.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Frontend Forensic Workstation: Next.js 14, React 18, Cytoscape.js (Dagre, CoSE, Concentric), Tailwind CSS Dark Forensic Interface.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Blockchain Connectors &amp; Data: Etherscan V2 API, TronGrid / TronScan REST, Web3.py with resilient token-bucket rate limiting and exponential backoff.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Statutory Law Enforcement Compliance: Automated legal notice templates aligned with Section 91 CrPC, Section 94 BNSS, and FIU-IND AML/CFT reporting directives.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DAHTThji0qk</dc:identifier>
  <dcterms:modified xsi:type="dcterms:W3CDTF">2011-08-01T06:04:30Z</dcterms:modified>
  <cp:revision>1</cp:revision>
  <dc:title>SIH2026</dc:title>
</cp:coreProperties>
</file>